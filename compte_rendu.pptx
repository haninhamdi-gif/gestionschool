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 autoAdjust="0"/>
    <p:restoredTop sz="89567" autoAdjust="0"/>
  </p:normalViewPr>
  <p:slideViewPr>
    <p:cSldViewPr snapToGrid="0" snapToObjects="1">
      <p:cViewPr varScale="1">
        <p:scale>
          <a:sx n="76" d="100"/>
          <a:sy n="76" d="100"/>
        </p:scale>
        <p:origin x="91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914400"/>
            <a:ext cx="10789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0000"/>
                </a:solidFill>
                <a:latin typeface="Arial"/>
              </a:rPr>
              <a:t>Mini Projet — Java Avancée &amp; Architectures Logicielles</a:t>
            </a:r>
            <a:endParaRPr sz="2800" b="1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dirty="0">
                <a:solidFill>
                  <a:srgbClr val="000000"/>
                </a:solidFill>
                <a:latin typeface="Arial"/>
              </a:rPr>
              <a:t>Spring Boot · Spring Data JPA · REST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38062" y="2753554"/>
            <a:ext cx="6400800" cy="1818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800" dirty="0" err="1">
                <a:solidFill>
                  <a:srgbClr val="002060"/>
                </a:solidFill>
                <a:latin typeface="Arial"/>
              </a:rPr>
              <a:t>Realisé</a:t>
            </a:r>
            <a:r>
              <a:rPr sz="1800" dirty="0">
                <a:solidFill>
                  <a:srgbClr val="002060"/>
                </a:solidFill>
                <a:latin typeface="Arial"/>
              </a:rPr>
              <a:t> par </a:t>
            </a:r>
            <a:r>
              <a:rPr sz="1800" dirty="0">
                <a:solidFill>
                  <a:srgbClr val="000000"/>
                </a:solidFill>
                <a:latin typeface="Arial"/>
              </a:rPr>
              <a:t>:</a:t>
            </a:r>
            <a:endParaRPr lang="fr-FR" sz="18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lang="fr-FR" sz="1800" dirty="0">
                <a:solidFill>
                  <a:srgbClr val="000000"/>
                </a:solidFill>
                <a:latin typeface="Arial"/>
              </a:rPr>
              <a:t>Hanin hamdi </a:t>
            </a:r>
          </a:p>
          <a:p>
            <a:pPr>
              <a:spcAft>
                <a:spcPts val="100"/>
              </a:spcAft>
            </a:pPr>
            <a:r>
              <a:rPr sz="1800" dirty="0" err="1">
                <a:solidFill>
                  <a:srgbClr val="000000"/>
                </a:solidFill>
                <a:latin typeface="Arial"/>
              </a:rPr>
              <a:t>Nihel</a:t>
            </a:r>
            <a:r>
              <a:rPr sz="180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bouhmi</a:t>
            </a:r>
            <a:endParaRPr sz="18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800" dirty="0">
                <a:solidFill>
                  <a:srgbClr val="000000"/>
                </a:solidFill>
                <a:latin typeface="Arial"/>
              </a:rPr>
              <a:t>Malek 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bensaid</a:t>
            </a:r>
            <a:r>
              <a:rPr sz="1800" dirty="0">
                <a:solidFill>
                  <a:srgbClr val="000000"/>
                </a:solidFill>
                <a:latin typeface="Arial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800" dirty="0" err="1">
                <a:solidFill>
                  <a:srgbClr val="000000"/>
                </a:solidFill>
                <a:latin typeface="Arial"/>
              </a:rPr>
              <a:t>Islem</a:t>
            </a:r>
            <a:r>
              <a:rPr sz="180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ouesleti</a:t>
            </a:r>
            <a:r>
              <a:rPr sz="1800" dirty="0">
                <a:solidFill>
                  <a:srgbClr val="000000"/>
                </a:solidFill>
                <a:latin typeface="Arial"/>
              </a:rPr>
              <a:t> </a:t>
            </a:r>
          </a:p>
          <a:p>
            <a:pPr algn="ctr">
              <a:spcAft>
                <a:spcPts val="100"/>
              </a:spcAft>
            </a:pPr>
            <a:r>
              <a:rPr sz="1800" dirty="0">
                <a:solidFill>
                  <a:srgbClr val="000000"/>
                </a:solidFill>
                <a:latin typeface="Arial"/>
              </a:rPr>
              <a:t>2lIG2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6995" y="99479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dirty="0">
                <a:solidFill>
                  <a:srgbClr val="000000"/>
                </a:solidFill>
                <a:latin typeface="Arial"/>
              </a:rPr>
              <a:t>ISG Bizerte — 2025/2026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E4CB726-5287-47B2-B40C-5955EEB9385E}"/>
              </a:ext>
            </a:extLst>
          </p:cNvPr>
          <p:cNvSpPr txBox="1"/>
          <p:nvPr/>
        </p:nvSpPr>
        <p:spPr>
          <a:xfrm>
            <a:off x="241160" y="5753240"/>
            <a:ext cx="731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>
                <a:solidFill>
                  <a:srgbClr val="002060"/>
                </a:solidFill>
              </a:rPr>
              <a:t>Encadré par :</a:t>
            </a:r>
            <a:br>
              <a:rPr lang="fr-FR"/>
            </a:br>
            <a:r>
              <a:rPr lang="fr-FR"/>
              <a:t>Mme Wafa Neji Stancati</a:t>
            </a:r>
            <a:br>
              <a:rPr lang="fr-FR"/>
            </a:br>
            <a:r>
              <a:rPr lang="fr-FR"/>
              <a:t>Mme Hela Jabbar</a:t>
            </a:r>
            <a:endParaRPr lang="fr-F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0000"/>
                </a:solidFill>
                <a:latin typeface="Arial"/>
              </a:rPr>
              <a:t>Architecture du projet</a:t>
            </a:r>
            <a:endParaRPr sz="2400" b="1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4712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53048"/>
            <a:ext cx="10972800" cy="4426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800" dirty="0">
                <a:solidFill>
                  <a:srgbClr val="000000"/>
                </a:solidFill>
                <a:latin typeface="Arial"/>
              </a:rPr>
              <a:t>Controller</a:t>
            </a:r>
          </a:p>
          <a:p>
            <a:pPr>
              <a:spcAft>
                <a:spcPts val="100"/>
              </a:spcAft>
            </a:pPr>
            <a:r>
              <a:rPr sz="1800" dirty="0" err="1">
                <a:solidFill>
                  <a:srgbClr val="000000"/>
                </a:solidFill>
                <a:latin typeface="Arial"/>
              </a:rPr>
              <a:t>edu.isgb.school.controller</a:t>
            </a:r>
            <a:endParaRPr sz="18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800" dirty="0" err="1">
                <a:solidFill>
                  <a:srgbClr val="000000"/>
                </a:solidFill>
                <a:latin typeface="Arial"/>
              </a:rPr>
              <a:t>TestSchoolController</a:t>
            </a:r>
            <a:r>
              <a:rPr sz="1800" dirty="0">
                <a:solidFill>
                  <a:srgbClr val="000000"/>
                </a:solidFill>
                <a:latin typeface="Arial"/>
              </a:rPr>
              <a:t> </a:t>
            </a:r>
          </a:p>
          <a:p>
            <a:pPr>
              <a:spcAft>
                <a:spcPts val="100"/>
              </a:spcAft>
            </a:pPr>
            <a:endParaRPr sz="18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800" dirty="0">
                <a:solidFill>
                  <a:srgbClr val="000000"/>
                </a:solidFill>
                <a:latin typeface="Arial"/>
              </a:rPr>
              <a:t>Service</a:t>
            </a:r>
          </a:p>
          <a:p>
            <a:pPr>
              <a:spcAft>
                <a:spcPts val="100"/>
              </a:spcAft>
            </a:pPr>
            <a:r>
              <a:rPr sz="1800" dirty="0" err="1">
                <a:solidFill>
                  <a:srgbClr val="000000"/>
                </a:solidFill>
                <a:latin typeface="Arial"/>
              </a:rPr>
              <a:t>edu.isgb.school.service</a:t>
            </a:r>
            <a:endParaRPr sz="18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800" dirty="0" err="1">
                <a:solidFill>
                  <a:srgbClr val="000000"/>
                </a:solidFill>
                <a:latin typeface="Arial"/>
              </a:rPr>
              <a:t>SchoolService</a:t>
            </a:r>
            <a:r>
              <a:rPr sz="1800" dirty="0">
                <a:solidFill>
                  <a:srgbClr val="000000"/>
                </a:solidFill>
                <a:latin typeface="Arial"/>
              </a:rPr>
              <a:t> — 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Logique</a:t>
            </a:r>
            <a:r>
              <a:rPr sz="1800" dirty="0">
                <a:solidFill>
                  <a:srgbClr val="000000"/>
                </a:solidFill>
                <a:latin typeface="Arial"/>
              </a:rPr>
              <a:t> métier</a:t>
            </a:r>
          </a:p>
          <a:p>
            <a:pPr>
              <a:spcAft>
                <a:spcPts val="100"/>
              </a:spcAft>
            </a:pPr>
            <a:endParaRPr sz="18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800" dirty="0">
                <a:solidFill>
                  <a:srgbClr val="000000"/>
                </a:solidFill>
                <a:latin typeface="Arial"/>
              </a:rPr>
              <a:t>Repository</a:t>
            </a:r>
          </a:p>
          <a:p>
            <a:pPr>
              <a:spcAft>
                <a:spcPts val="100"/>
              </a:spcAft>
            </a:pPr>
            <a:r>
              <a:rPr sz="1800" dirty="0" err="1">
                <a:solidFill>
                  <a:srgbClr val="000000"/>
                </a:solidFill>
                <a:latin typeface="Arial"/>
              </a:rPr>
              <a:t>edu.isgb.school.repository</a:t>
            </a:r>
            <a:endParaRPr sz="18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800" dirty="0" err="1">
                <a:solidFill>
                  <a:srgbClr val="000000"/>
                </a:solidFill>
                <a:latin typeface="Arial"/>
              </a:rPr>
              <a:t>JpaRepository</a:t>
            </a:r>
            <a:r>
              <a:rPr sz="1800" dirty="0">
                <a:solidFill>
                  <a:srgbClr val="000000"/>
                </a:solidFill>
                <a:latin typeface="Arial"/>
              </a:rPr>
              <a:t> — 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Accès</a:t>
            </a:r>
            <a:r>
              <a:rPr sz="180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données</a:t>
            </a:r>
            <a:endParaRPr sz="18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endParaRPr sz="18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800" dirty="0">
                <a:solidFill>
                  <a:srgbClr val="000000"/>
                </a:solidFill>
                <a:latin typeface="Arial"/>
              </a:rPr>
              <a:t>Entities</a:t>
            </a:r>
          </a:p>
          <a:p>
            <a:pPr>
              <a:spcAft>
                <a:spcPts val="100"/>
              </a:spcAft>
            </a:pPr>
            <a:r>
              <a:rPr sz="1800" dirty="0" err="1">
                <a:solidFill>
                  <a:srgbClr val="000000"/>
                </a:solidFill>
                <a:latin typeface="Arial"/>
              </a:rPr>
              <a:t>edu.isgb.school.entities</a:t>
            </a:r>
            <a:endParaRPr sz="18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800" dirty="0">
                <a:solidFill>
                  <a:srgbClr val="000000"/>
                </a:solidFill>
                <a:latin typeface="Arial"/>
              </a:rPr>
              <a:t>School, Student, Instructor, Course, Department, Address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0000"/>
                </a:solidFill>
                <a:latin typeface="Arial"/>
              </a:rPr>
              <a:t>Entités JPA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4712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0602" y="1053168"/>
            <a:ext cx="12472014" cy="532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50" dirty="0">
                <a:solidFill>
                  <a:srgbClr val="000000"/>
                </a:solidFill>
                <a:latin typeface="Arial"/>
              </a:rPr>
              <a:t>Sch</a:t>
            </a:r>
            <a:r>
              <a:rPr sz="1400" dirty="0">
                <a:solidFill>
                  <a:srgbClr val="000000"/>
                </a:solidFill>
                <a:latin typeface="Arial"/>
              </a:rPr>
              <a:t>ool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000000"/>
                </a:solidFill>
                <a:latin typeface="Arial"/>
              </a:rPr>
              <a:t>Champs :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idSchool</a:t>
            </a:r>
            <a:r>
              <a:rPr sz="1400" dirty="0">
                <a:solidFill>
                  <a:srgbClr val="000000"/>
                </a:solidFill>
                <a:latin typeface="Arial"/>
              </a:rPr>
              <a:t>, name, phone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000000"/>
                </a:solidFill>
                <a:latin typeface="Arial"/>
              </a:rPr>
              <a:t>Relation :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OneToMany</a:t>
            </a:r>
            <a:r>
              <a:rPr sz="1400" dirty="0">
                <a:solidFill>
                  <a:srgbClr val="000000"/>
                </a:solidFill>
                <a:latin typeface="Arial"/>
              </a:rPr>
              <a:t> → Department, Student, Instructor</a:t>
            </a:r>
          </a:p>
          <a:p>
            <a:pPr>
              <a:spcAft>
                <a:spcPts val="100"/>
              </a:spcAft>
            </a:pPr>
            <a:endParaRPr sz="14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000000"/>
                </a:solidFill>
                <a:latin typeface="Arial"/>
              </a:rPr>
              <a:t>Department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000000"/>
                </a:solidFill>
                <a:latin typeface="Arial"/>
              </a:rPr>
              <a:t>Champs :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idDepartment</a:t>
            </a:r>
            <a:r>
              <a:rPr sz="1400" dirty="0">
                <a:solidFill>
                  <a:srgbClr val="000000"/>
                </a:solidFill>
                <a:latin typeface="Arial"/>
              </a:rPr>
              <a:t>, name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000000"/>
                </a:solidFill>
                <a:latin typeface="Arial"/>
              </a:rPr>
              <a:t>Relation :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ManyToOne</a:t>
            </a:r>
            <a:r>
              <a:rPr sz="1400" dirty="0">
                <a:solidFill>
                  <a:srgbClr val="000000"/>
                </a:solidFill>
                <a:latin typeface="Arial"/>
              </a:rPr>
              <a:t> → School</a:t>
            </a:r>
          </a:p>
          <a:p>
            <a:pPr>
              <a:spcAft>
                <a:spcPts val="100"/>
              </a:spcAft>
            </a:pPr>
            <a:endParaRPr sz="14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000000"/>
                </a:solidFill>
                <a:latin typeface="Arial"/>
              </a:rPr>
              <a:t>Student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000000"/>
                </a:solidFill>
                <a:latin typeface="Arial"/>
              </a:rPr>
              <a:t>Champs :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idStudent</a:t>
            </a:r>
            <a:r>
              <a:rPr sz="1400" dirty="0">
                <a:solidFill>
                  <a:srgbClr val="000000"/>
                </a:solidFill>
                <a:latin typeface="Arial"/>
              </a:rPr>
              <a:t>, name,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birthDate</a:t>
            </a:r>
            <a:endParaRPr sz="14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000000"/>
                </a:solidFill>
                <a:latin typeface="Arial"/>
              </a:rPr>
              <a:t>Relation :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OneToOne</a:t>
            </a:r>
            <a:r>
              <a:rPr sz="1400" dirty="0">
                <a:solidFill>
                  <a:srgbClr val="000000"/>
                </a:solidFill>
                <a:latin typeface="Arial"/>
              </a:rPr>
              <a:t> → Address,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ManyToOne</a:t>
            </a:r>
            <a:r>
              <a:rPr sz="1400" dirty="0">
                <a:solidFill>
                  <a:srgbClr val="000000"/>
                </a:solidFill>
                <a:latin typeface="Arial"/>
              </a:rPr>
              <a:t> → School</a:t>
            </a:r>
          </a:p>
          <a:p>
            <a:pPr>
              <a:spcAft>
                <a:spcPts val="100"/>
              </a:spcAft>
            </a:pPr>
            <a:endParaRPr sz="14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000000"/>
                </a:solidFill>
                <a:latin typeface="Arial"/>
              </a:rPr>
              <a:t>Address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000000"/>
                </a:solidFill>
                <a:latin typeface="Arial"/>
              </a:rPr>
              <a:t>Champs :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idAddress</a:t>
            </a:r>
            <a:r>
              <a:rPr sz="1400" dirty="0">
                <a:solidFill>
                  <a:srgbClr val="000000"/>
                </a:solidFill>
                <a:latin typeface="Arial"/>
              </a:rPr>
              <a:t>, street, city,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postalCode</a:t>
            </a:r>
            <a:endParaRPr sz="14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000000"/>
                </a:solidFill>
                <a:latin typeface="Arial"/>
              </a:rPr>
              <a:t>Relation :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Aucune</a:t>
            </a:r>
            <a:r>
              <a:rPr sz="1400" dirty="0">
                <a:solidFill>
                  <a:srgbClr val="000000"/>
                </a:solidFill>
                <a:latin typeface="Arial"/>
              </a:rPr>
              <a:t> (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entité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dépendante</a:t>
            </a:r>
            <a:r>
              <a:rPr sz="1400" dirty="0">
                <a:solidFill>
                  <a:srgbClr val="000000"/>
                </a:solidFill>
                <a:latin typeface="Arial"/>
              </a:rPr>
              <a:t>)</a:t>
            </a:r>
          </a:p>
          <a:p>
            <a:pPr>
              <a:spcAft>
                <a:spcPts val="100"/>
              </a:spcAft>
            </a:pPr>
            <a:endParaRPr sz="14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000000"/>
                </a:solidFill>
                <a:latin typeface="Arial"/>
              </a:rPr>
              <a:t>Instructor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000000"/>
                </a:solidFill>
                <a:latin typeface="Arial"/>
              </a:rPr>
              <a:t>Champs :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idInstructor</a:t>
            </a:r>
            <a:r>
              <a:rPr sz="1400" dirty="0">
                <a:solidFill>
                  <a:srgbClr val="000000"/>
                </a:solidFill>
                <a:latin typeface="Arial"/>
              </a:rPr>
              <a:t>, name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000000"/>
                </a:solidFill>
                <a:latin typeface="Arial"/>
              </a:rPr>
              <a:t>Relation :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ManyToMany</a:t>
            </a:r>
            <a:r>
              <a:rPr sz="1400" dirty="0">
                <a:solidFill>
                  <a:srgbClr val="000000"/>
                </a:solidFill>
                <a:latin typeface="Arial"/>
              </a:rPr>
              <a:t> → Course,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ManyToOne</a:t>
            </a:r>
            <a:r>
              <a:rPr sz="1400" dirty="0">
                <a:solidFill>
                  <a:srgbClr val="000000"/>
                </a:solidFill>
                <a:latin typeface="Arial"/>
              </a:rPr>
              <a:t> → School</a:t>
            </a:r>
          </a:p>
          <a:p>
            <a:pPr>
              <a:spcAft>
                <a:spcPts val="100"/>
              </a:spcAft>
            </a:pPr>
            <a:endParaRPr sz="14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000000"/>
                </a:solidFill>
                <a:latin typeface="Arial"/>
              </a:rPr>
              <a:t>Course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000000"/>
                </a:solidFill>
                <a:latin typeface="Arial"/>
              </a:rPr>
              <a:t>Champs :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idCourse</a:t>
            </a:r>
            <a:r>
              <a:rPr sz="1400" dirty="0">
                <a:solidFill>
                  <a:srgbClr val="000000"/>
                </a:solidFill>
                <a:latin typeface="Arial"/>
              </a:rPr>
              <a:t>, name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000000"/>
                </a:solidFill>
                <a:latin typeface="Arial"/>
              </a:rPr>
              <a:t>Relation :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ManyToMany</a:t>
            </a:r>
            <a:r>
              <a:rPr sz="1400" dirty="0">
                <a:solidFill>
                  <a:srgbClr val="000000"/>
                </a:solidFill>
                <a:latin typeface="Arial"/>
              </a:rPr>
              <a:t> ← Instructor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0000"/>
                </a:solidFill>
                <a:latin typeface="Arial"/>
              </a:rPr>
              <a:t>Question 2 — School ↔ Department (</a:t>
            </a:r>
            <a:r>
              <a:rPr sz="2400" b="1" dirty="0" err="1">
                <a:solidFill>
                  <a:srgbClr val="FF0000"/>
                </a:solidFill>
                <a:latin typeface="Arial"/>
              </a:rPr>
              <a:t>OneToMany</a:t>
            </a:r>
            <a:r>
              <a:rPr lang="fr-FR" sz="2400" b="1" dirty="0">
                <a:solidFill>
                  <a:srgbClr val="FF0000"/>
                </a:solidFill>
                <a:latin typeface="Arial"/>
              </a:rPr>
              <a:t> bidirectionnelle</a:t>
            </a:r>
            <a:r>
              <a:rPr sz="2400" b="1" dirty="0">
                <a:solidFill>
                  <a:srgbClr val="FF0000"/>
                </a:solidFill>
                <a:latin typeface="Arial"/>
              </a:rPr>
              <a:t>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4712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6720840" cy="4160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600" dirty="0">
                <a:solidFill>
                  <a:srgbClr val="FF0000"/>
                </a:solidFill>
                <a:latin typeface="Arial"/>
              </a:rPr>
              <a:t>Cas 1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002060"/>
                </a:solidFill>
                <a:latin typeface="Arial"/>
              </a:rPr>
              <a:t>Le </a:t>
            </a:r>
            <a:r>
              <a:rPr sz="1600" dirty="0" err="1">
                <a:solidFill>
                  <a:srgbClr val="002060"/>
                </a:solidFill>
                <a:latin typeface="Arial"/>
              </a:rPr>
              <a:t>cas</a:t>
            </a:r>
            <a:r>
              <a:rPr sz="1600" dirty="0">
                <a:solidFill>
                  <a:srgbClr val="002060"/>
                </a:solidFill>
                <a:latin typeface="Arial"/>
              </a:rPr>
              <a:t> 1:Table de jointure </a:t>
            </a:r>
            <a:r>
              <a:rPr sz="1600" dirty="0" err="1">
                <a:solidFill>
                  <a:srgbClr val="002060"/>
                </a:solidFill>
                <a:latin typeface="Arial"/>
              </a:rPr>
              <a:t>t_school_t_department</a:t>
            </a:r>
            <a:endParaRPr sz="1600" dirty="0">
              <a:solidFill>
                <a:srgbClr val="00206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n’est</a:t>
            </a:r>
            <a:r>
              <a:rPr sz="1600" dirty="0">
                <a:solidFill>
                  <a:srgbClr val="000000"/>
                </a:solidFill>
                <a:latin typeface="Arial"/>
              </a:rPr>
              <a:t> pas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choisi</a:t>
            </a:r>
            <a:r>
              <a:rPr sz="1600" dirty="0">
                <a:solidFill>
                  <a:srgbClr val="000000"/>
                </a:solidFill>
                <a:latin typeface="Arial"/>
              </a:rPr>
              <a:t> car il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introduit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une</a:t>
            </a:r>
            <a:r>
              <a:rPr sz="1600" dirty="0">
                <a:solidFill>
                  <a:srgbClr val="000000"/>
                </a:solidFill>
                <a:latin typeface="Arial"/>
              </a:rPr>
              <a:t> table de jointure inutile pour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une</a:t>
            </a:r>
            <a:r>
              <a:rPr sz="1600" dirty="0">
                <a:solidFill>
                  <a:srgbClr val="000000"/>
                </a:solidFill>
                <a:latin typeface="Arial"/>
              </a:rPr>
              <a:t> relation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OneToMany</a:t>
            </a:r>
            <a:r>
              <a:rPr sz="1600" dirty="0">
                <a:solidFill>
                  <a:srgbClr val="000000"/>
                </a:solidFill>
                <a:latin typeface="Arial"/>
              </a:rPr>
              <a:t>.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Cela</a:t>
            </a:r>
            <a:r>
              <a:rPr sz="1600" dirty="0">
                <a:solidFill>
                  <a:srgbClr val="000000"/>
                </a:solidFill>
                <a:latin typeface="Arial"/>
              </a:rPr>
              <a:t> rend la base plus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complexe</a:t>
            </a:r>
            <a:r>
              <a:rPr sz="1600" dirty="0">
                <a:solidFill>
                  <a:srgbClr val="000000"/>
                </a:solidFill>
                <a:latin typeface="Arial"/>
              </a:rPr>
              <a:t> sans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apporter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d’avantage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réel</a:t>
            </a:r>
            <a:r>
              <a:rPr sz="160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>
              <a:spcAft>
                <a:spcPts val="100"/>
              </a:spcAft>
            </a:pPr>
            <a:endParaRPr sz="16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FF0000"/>
                </a:solidFill>
                <a:latin typeface="Arial"/>
              </a:rPr>
              <a:t>Cas 2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002060"/>
                </a:solidFill>
                <a:latin typeface="Arial"/>
              </a:rPr>
              <a:t>Le </a:t>
            </a:r>
            <a:r>
              <a:rPr sz="1600" dirty="0" err="1">
                <a:solidFill>
                  <a:srgbClr val="002060"/>
                </a:solidFill>
                <a:latin typeface="Arial"/>
              </a:rPr>
              <a:t>cas</a:t>
            </a:r>
            <a:r>
              <a:rPr sz="1600" dirty="0">
                <a:solidFill>
                  <a:srgbClr val="002060"/>
                </a:solidFill>
                <a:latin typeface="Arial"/>
              </a:rPr>
              <a:t> 2: </a:t>
            </a:r>
            <a:r>
              <a:rPr sz="1600" dirty="0" err="1">
                <a:solidFill>
                  <a:srgbClr val="002060"/>
                </a:solidFill>
                <a:latin typeface="Arial"/>
              </a:rPr>
              <a:t>Clé</a:t>
            </a:r>
            <a:r>
              <a:rPr sz="1600" dirty="0">
                <a:solidFill>
                  <a:srgbClr val="00206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2060"/>
                </a:solidFill>
                <a:latin typeface="Arial"/>
              </a:rPr>
              <a:t>étrangère</a:t>
            </a:r>
            <a:r>
              <a:rPr sz="1600" dirty="0">
                <a:solidFill>
                  <a:srgbClr val="002060"/>
                </a:solidFill>
                <a:latin typeface="Arial"/>
              </a:rPr>
              <a:t> dans Department + table de jointure</a:t>
            </a:r>
          </a:p>
          <a:p>
            <a:pPr>
              <a:spcAft>
                <a:spcPts val="100"/>
              </a:spcAft>
            </a:pPr>
            <a:r>
              <a:rPr sz="1600" dirty="0" err="1">
                <a:solidFill>
                  <a:srgbClr val="000000"/>
                </a:solidFill>
                <a:latin typeface="Arial"/>
              </a:rPr>
              <a:t>n’est</a:t>
            </a:r>
            <a:r>
              <a:rPr sz="1600" dirty="0">
                <a:solidFill>
                  <a:srgbClr val="000000"/>
                </a:solidFill>
                <a:latin typeface="Arial"/>
              </a:rPr>
              <a:t> pas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choisi</a:t>
            </a:r>
            <a:r>
              <a:rPr sz="1600" dirty="0">
                <a:solidFill>
                  <a:srgbClr val="000000"/>
                </a:solidFill>
                <a:latin typeface="Arial"/>
              </a:rPr>
              <a:t> car il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contient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une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redondance</a:t>
            </a:r>
            <a:r>
              <a:rPr sz="1600" dirty="0">
                <a:solidFill>
                  <a:srgbClr val="000000"/>
                </a:solidFill>
                <a:latin typeface="Arial"/>
              </a:rPr>
              <a:t> inutile. La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présence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d’une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clé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étrangère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suffit</a:t>
            </a:r>
            <a:r>
              <a:rPr sz="1600" dirty="0">
                <a:solidFill>
                  <a:srgbClr val="000000"/>
                </a:solidFill>
                <a:latin typeface="Arial"/>
              </a:rPr>
              <a:t>,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donc</a:t>
            </a:r>
            <a:r>
              <a:rPr sz="1600" dirty="0">
                <a:solidFill>
                  <a:srgbClr val="000000"/>
                </a:solidFill>
                <a:latin typeface="Arial"/>
              </a:rPr>
              <a:t> la table de jointure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devient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superflue</a:t>
            </a:r>
            <a:r>
              <a:rPr sz="160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>
              <a:spcAft>
                <a:spcPts val="100"/>
              </a:spcAft>
            </a:pPr>
            <a:endParaRPr sz="16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FF0000"/>
                </a:solidFill>
                <a:latin typeface="Arial"/>
              </a:rPr>
              <a:t>Cas 3 — </a:t>
            </a:r>
            <a:r>
              <a:rPr sz="1600" dirty="0" err="1">
                <a:solidFill>
                  <a:srgbClr val="FF0000"/>
                </a:solidFill>
                <a:latin typeface="Arial"/>
              </a:rPr>
              <a:t>Choisi</a:t>
            </a:r>
            <a:r>
              <a:rPr sz="1600" dirty="0">
                <a:solidFill>
                  <a:srgbClr val="FF0000"/>
                </a:solidFill>
                <a:latin typeface="Arial"/>
              </a:rPr>
              <a:t> ✓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002060"/>
                </a:solidFill>
                <a:latin typeface="Arial"/>
              </a:rPr>
              <a:t>Le </a:t>
            </a:r>
            <a:r>
              <a:rPr sz="1600" dirty="0" err="1">
                <a:solidFill>
                  <a:srgbClr val="002060"/>
                </a:solidFill>
                <a:latin typeface="Arial"/>
              </a:rPr>
              <a:t>cas</a:t>
            </a:r>
            <a:r>
              <a:rPr sz="1600" dirty="0">
                <a:solidFill>
                  <a:srgbClr val="002060"/>
                </a:solidFill>
                <a:latin typeface="Arial"/>
              </a:rPr>
              <a:t> 3:Clé </a:t>
            </a:r>
            <a:r>
              <a:rPr sz="1600" dirty="0" err="1">
                <a:solidFill>
                  <a:srgbClr val="002060"/>
                </a:solidFill>
                <a:latin typeface="Arial"/>
              </a:rPr>
              <a:t>étrangère</a:t>
            </a:r>
            <a:r>
              <a:rPr sz="1600" dirty="0">
                <a:solidFill>
                  <a:srgbClr val="00206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2060"/>
                </a:solidFill>
                <a:latin typeface="Arial"/>
              </a:rPr>
              <a:t>school_PK_school</a:t>
            </a:r>
            <a:r>
              <a:rPr sz="1600" dirty="0">
                <a:solidFill>
                  <a:srgbClr val="002060"/>
                </a:solidFill>
                <a:latin typeface="Arial"/>
              </a:rPr>
              <a:t> dans Department </a:t>
            </a:r>
            <a:r>
              <a:rPr sz="1600" dirty="0" err="1">
                <a:solidFill>
                  <a:srgbClr val="002060"/>
                </a:solidFill>
                <a:latin typeface="Arial"/>
              </a:rPr>
              <a:t>uniquement</a:t>
            </a:r>
            <a:endParaRPr sz="1600" dirty="0">
              <a:solidFill>
                <a:srgbClr val="00206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600" dirty="0" err="1">
                <a:solidFill>
                  <a:srgbClr val="000000"/>
                </a:solidFill>
                <a:latin typeface="Arial"/>
              </a:rPr>
              <a:t>est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choisi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mappedBy</a:t>
            </a:r>
            <a:r>
              <a:rPr sz="1600" dirty="0">
                <a:solidFill>
                  <a:srgbClr val="000000"/>
                </a:solidFill>
                <a:latin typeface="Arial"/>
              </a:rPr>
              <a:t>="school" dans School, @ManyToOne dans Department. Pas de table de jointure inutile, navigation dans les deux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sens</a:t>
            </a:r>
            <a:r>
              <a:rPr sz="1600" dirty="0">
                <a:solidFill>
                  <a:srgbClr val="000000"/>
                </a:solidFill>
                <a:latin typeface="Arial"/>
              </a:rPr>
              <a:t> possible</a:t>
            </a:r>
            <a:r>
              <a:rPr sz="115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8295" y="1051560"/>
            <a:ext cx="4389120" cy="2929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 </a:t>
            </a:r>
            <a:r>
              <a:rPr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adéquats</a:t>
            </a:r>
            <a:r>
              <a:rPr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</a:p>
          <a:p>
            <a:pPr>
              <a:spcAft>
                <a:spcPts val="100"/>
              </a:spcAft>
            </a:pPr>
            <a:endParaRPr sz="1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School.java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@OneToMany(mappedBy = "school",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cascade = </a:t>
            </a:r>
            <a:r>
              <a:rPr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CascadeType.ALL</a:t>
            </a:r>
            <a:r>
              <a:rPr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fetch = </a:t>
            </a:r>
            <a:r>
              <a:rPr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FetchType.LAZY</a:t>
            </a:r>
            <a:r>
              <a:rPr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List&lt;Department&gt; departments;</a:t>
            </a:r>
          </a:p>
          <a:p>
            <a:pPr>
              <a:spcAft>
                <a:spcPts val="100"/>
              </a:spcAft>
            </a:pPr>
            <a:endParaRPr sz="1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</a:t>
            </a:r>
            <a:r>
              <a:rPr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.java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@ManyToOne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School </a:t>
            </a:r>
            <a:r>
              <a:rPr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school</a:t>
            </a:r>
            <a:r>
              <a:rPr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0000"/>
                </a:solidFill>
                <a:latin typeface="Arial"/>
              </a:rPr>
              <a:t>Question 4 — Student → Address (</a:t>
            </a:r>
            <a:r>
              <a:rPr sz="2400" b="1" dirty="0" err="1">
                <a:solidFill>
                  <a:srgbClr val="FF0000"/>
                </a:solidFill>
                <a:latin typeface="Arial"/>
              </a:rPr>
              <a:t>OneToOne</a:t>
            </a:r>
            <a:r>
              <a:rPr lang="fr-FR" sz="2400" b="1" dirty="0">
                <a:solidFill>
                  <a:srgbClr val="FF0000"/>
                </a:solidFill>
                <a:latin typeface="Arial"/>
              </a:rPr>
              <a:t> unidirectionnelle </a:t>
            </a:r>
            <a:r>
              <a:rPr sz="2400" b="1" dirty="0">
                <a:solidFill>
                  <a:srgbClr val="FF0000"/>
                </a:solidFill>
                <a:latin typeface="Arial"/>
              </a:rPr>
              <a:t>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4712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6720840" cy="5157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600" dirty="0">
                <a:solidFill>
                  <a:srgbClr val="FF0000"/>
                </a:solidFill>
                <a:latin typeface="Arial"/>
              </a:rPr>
              <a:t>Cas 1</a:t>
            </a:r>
          </a:p>
          <a:p>
            <a:pPr>
              <a:spcAft>
                <a:spcPts val="100"/>
              </a:spcAft>
            </a:pPr>
            <a:r>
              <a:rPr sz="1600" dirty="0" err="1">
                <a:solidFill>
                  <a:srgbClr val="002060"/>
                </a:solidFill>
                <a:latin typeface="Arial"/>
              </a:rPr>
              <a:t>Clé</a:t>
            </a:r>
            <a:r>
              <a:rPr sz="1600" dirty="0">
                <a:solidFill>
                  <a:srgbClr val="00206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2060"/>
                </a:solidFill>
                <a:latin typeface="Arial"/>
              </a:rPr>
              <a:t>étrangère</a:t>
            </a:r>
            <a:r>
              <a:rPr sz="1600" dirty="0">
                <a:solidFill>
                  <a:srgbClr val="00206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2060"/>
                </a:solidFill>
                <a:latin typeface="Arial"/>
              </a:rPr>
              <a:t>student_PK_Student</a:t>
            </a:r>
            <a:r>
              <a:rPr sz="1600" dirty="0">
                <a:solidFill>
                  <a:srgbClr val="002060"/>
                </a:solidFill>
                <a:latin typeface="Arial"/>
              </a:rPr>
              <a:t> dans Address</a:t>
            </a:r>
          </a:p>
          <a:p>
            <a:pPr>
              <a:spcAft>
                <a:spcPts val="100"/>
              </a:spcAft>
            </a:pPr>
            <a:r>
              <a:rPr sz="1600" dirty="0" err="1">
                <a:solidFill>
                  <a:srgbClr val="000000"/>
                </a:solidFill>
                <a:latin typeface="Arial"/>
              </a:rPr>
              <a:t>n’est</a:t>
            </a:r>
            <a:r>
              <a:rPr sz="1600" dirty="0">
                <a:solidFill>
                  <a:srgbClr val="000000"/>
                </a:solidFill>
                <a:latin typeface="Arial"/>
              </a:rPr>
              <a:t> pas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retenu</a:t>
            </a:r>
            <a:r>
              <a:rPr sz="1600" dirty="0">
                <a:solidFill>
                  <a:srgbClr val="000000"/>
                </a:solidFill>
                <a:latin typeface="Arial"/>
              </a:rPr>
              <a:t> car il place la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clé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étrangère</a:t>
            </a:r>
            <a:r>
              <a:rPr sz="1600" dirty="0">
                <a:solidFill>
                  <a:srgbClr val="000000"/>
                </a:solidFill>
                <a:latin typeface="Arial"/>
              </a:rPr>
              <a:t> dans Address,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alors</a:t>
            </a:r>
            <a:r>
              <a:rPr sz="1600" dirty="0">
                <a:solidFill>
                  <a:srgbClr val="000000"/>
                </a:solidFill>
                <a:latin typeface="Arial"/>
              </a:rPr>
              <a:t> que la relation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choisie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est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unidirectionnelle</a:t>
            </a:r>
            <a:r>
              <a:rPr sz="1600" dirty="0">
                <a:solidFill>
                  <a:srgbClr val="000000"/>
                </a:solidFill>
                <a:latin typeface="Arial"/>
              </a:rPr>
              <a:t> de Student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vers</a:t>
            </a:r>
            <a:r>
              <a:rPr sz="1600" dirty="0">
                <a:solidFill>
                  <a:srgbClr val="000000"/>
                </a:solidFill>
                <a:latin typeface="Arial"/>
              </a:rPr>
              <a:t> Address. Address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n’a</a:t>
            </a:r>
            <a:r>
              <a:rPr sz="1600" dirty="0">
                <a:solidFill>
                  <a:srgbClr val="000000"/>
                </a:solidFill>
                <a:latin typeface="Arial"/>
              </a:rPr>
              <a:t> pas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besoin</a:t>
            </a:r>
            <a:r>
              <a:rPr sz="1600" dirty="0">
                <a:solidFill>
                  <a:srgbClr val="000000"/>
                </a:solidFill>
                <a:latin typeface="Arial"/>
              </a:rPr>
              <a:t> de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connaître</a:t>
            </a:r>
            <a:r>
              <a:rPr sz="1600" dirty="0">
                <a:solidFill>
                  <a:srgbClr val="000000"/>
                </a:solidFill>
                <a:latin typeface="Arial"/>
              </a:rPr>
              <a:t> son Student.</a:t>
            </a:r>
          </a:p>
          <a:p>
            <a:pPr>
              <a:spcAft>
                <a:spcPts val="100"/>
              </a:spcAft>
            </a:pPr>
            <a:endParaRPr sz="16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FF0000"/>
                </a:solidFill>
                <a:latin typeface="Arial"/>
              </a:rPr>
              <a:t>Cas 2</a:t>
            </a:r>
          </a:p>
          <a:p>
            <a:pPr>
              <a:spcAft>
                <a:spcPts val="100"/>
              </a:spcAft>
            </a:pPr>
            <a:r>
              <a:rPr sz="1600" dirty="0" err="1">
                <a:solidFill>
                  <a:srgbClr val="002060"/>
                </a:solidFill>
                <a:latin typeface="Arial"/>
              </a:rPr>
              <a:t>Clé</a:t>
            </a:r>
            <a:r>
              <a:rPr sz="1600" dirty="0">
                <a:solidFill>
                  <a:srgbClr val="00206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2060"/>
                </a:solidFill>
                <a:latin typeface="Arial"/>
              </a:rPr>
              <a:t>étrangère</a:t>
            </a:r>
            <a:r>
              <a:rPr sz="1600" dirty="0">
                <a:solidFill>
                  <a:srgbClr val="002060"/>
                </a:solidFill>
                <a:latin typeface="Arial"/>
              </a:rPr>
              <a:t> dans Student et dans Address</a:t>
            </a:r>
          </a:p>
          <a:p>
            <a:pPr>
              <a:spcAft>
                <a:spcPts val="100"/>
              </a:spcAft>
            </a:pPr>
            <a:r>
              <a:rPr sz="1600" dirty="0" err="1">
                <a:solidFill>
                  <a:srgbClr val="000000"/>
                </a:solidFill>
                <a:latin typeface="Arial"/>
              </a:rPr>
              <a:t>n’est</a:t>
            </a:r>
            <a:r>
              <a:rPr sz="1600" dirty="0">
                <a:solidFill>
                  <a:srgbClr val="000000"/>
                </a:solidFill>
                <a:latin typeface="Arial"/>
              </a:rPr>
              <a:t> pas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retenu</a:t>
            </a:r>
            <a:r>
              <a:rPr sz="1600" dirty="0">
                <a:solidFill>
                  <a:srgbClr val="000000"/>
                </a:solidFill>
                <a:latin typeface="Arial"/>
              </a:rPr>
              <a:t> car il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introduit</a:t>
            </a:r>
            <a:r>
              <a:rPr sz="1600" dirty="0">
                <a:solidFill>
                  <a:srgbClr val="000000"/>
                </a:solidFill>
                <a:latin typeface="Arial"/>
              </a:rPr>
              <a:t> deux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clés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étrangères</a:t>
            </a:r>
            <a:r>
              <a:rPr sz="1600" dirty="0">
                <a:solidFill>
                  <a:srgbClr val="000000"/>
                </a:solidFill>
                <a:latin typeface="Arial"/>
              </a:rPr>
              <a:t> pour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représenter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une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seule</a:t>
            </a:r>
            <a:r>
              <a:rPr sz="1600" dirty="0">
                <a:solidFill>
                  <a:srgbClr val="000000"/>
                </a:solidFill>
                <a:latin typeface="Arial"/>
              </a:rPr>
              <a:t> relation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OneToOne</a:t>
            </a:r>
            <a:r>
              <a:rPr sz="1600" dirty="0">
                <a:solidFill>
                  <a:srgbClr val="000000"/>
                </a:solidFill>
                <a:latin typeface="Arial"/>
              </a:rPr>
              <a:t>.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Cela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crée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une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redondance</a:t>
            </a:r>
            <a:r>
              <a:rPr sz="1600" dirty="0">
                <a:solidFill>
                  <a:srgbClr val="000000"/>
                </a:solidFill>
                <a:latin typeface="Arial"/>
              </a:rPr>
              <a:t> et rend le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modèle</a:t>
            </a:r>
            <a:r>
              <a:rPr sz="1600" dirty="0">
                <a:solidFill>
                  <a:srgbClr val="000000"/>
                </a:solidFill>
                <a:latin typeface="Arial"/>
              </a:rPr>
              <a:t> plus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complexe</a:t>
            </a:r>
            <a:r>
              <a:rPr sz="160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>
              <a:spcAft>
                <a:spcPts val="100"/>
              </a:spcAft>
            </a:pPr>
            <a:endParaRPr sz="16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FF0000"/>
                </a:solidFill>
                <a:latin typeface="Arial"/>
              </a:rPr>
              <a:t>Cas 3 — </a:t>
            </a:r>
            <a:r>
              <a:rPr sz="1600" dirty="0" err="1">
                <a:solidFill>
                  <a:srgbClr val="FF0000"/>
                </a:solidFill>
                <a:latin typeface="Arial"/>
              </a:rPr>
              <a:t>Choisi</a:t>
            </a:r>
            <a:r>
              <a:rPr sz="1600" dirty="0">
                <a:solidFill>
                  <a:srgbClr val="FF0000"/>
                </a:solidFill>
                <a:latin typeface="Arial"/>
              </a:rPr>
              <a:t> ✓</a:t>
            </a:r>
          </a:p>
          <a:p>
            <a:pPr>
              <a:spcAft>
                <a:spcPts val="100"/>
              </a:spcAft>
            </a:pPr>
            <a:r>
              <a:rPr sz="1600" dirty="0" err="1">
                <a:solidFill>
                  <a:srgbClr val="002060"/>
                </a:solidFill>
                <a:latin typeface="Arial"/>
              </a:rPr>
              <a:t>Clé</a:t>
            </a:r>
            <a:r>
              <a:rPr sz="1600" dirty="0">
                <a:solidFill>
                  <a:srgbClr val="00206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2060"/>
                </a:solidFill>
                <a:latin typeface="Arial"/>
              </a:rPr>
              <a:t>étrangère</a:t>
            </a:r>
            <a:r>
              <a:rPr sz="1600" dirty="0">
                <a:solidFill>
                  <a:srgbClr val="00206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2060"/>
                </a:solidFill>
                <a:latin typeface="Arial"/>
              </a:rPr>
              <a:t>address_id</a:t>
            </a:r>
            <a:r>
              <a:rPr sz="1600" dirty="0">
                <a:solidFill>
                  <a:srgbClr val="002060"/>
                </a:solidFill>
                <a:latin typeface="Arial"/>
              </a:rPr>
              <a:t> dans Student </a:t>
            </a:r>
            <a:r>
              <a:rPr sz="1600" dirty="0" err="1">
                <a:solidFill>
                  <a:srgbClr val="002060"/>
                </a:solidFill>
                <a:latin typeface="Arial"/>
              </a:rPr>
              <a:t>uniquement</a:t>
            </a:r>
            <a:endParaRPr sz="1600" dirty="0">
              <a:solidFill>
                <a:srgbClr val="00206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600" dirty="0" err="1">
                <a:solidFill>
                  <a:srgbClr val="000000"/>
                </a:solidFill>
                <a:latin typeface="Arial"/>
              </a:rPr>
              <a:t>est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retenu</a:t>
            </a:r>
            <a:r>
              <a:rPr sz="1600" dirty="0">
                <a:solidFill>
                  <a:srgbClr val="000000"/>
                </a:solidFill>
                <a:latin typeface="Arial"/>
              </a:rPr>
              <a:t> car il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respecte</a:t>
            </a:r>
            <a:r>
              <a:rPr sz="1600" dirty="0">
                <a:solidFill>
                  <a:srgbClr val="000000"/>
                </a:solidFill>
                <a:latin typeface="Arial"/>
              </a:rPr>
              <a:t> le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sens</a:t>
            </a:r>
            <a:r>
              <a:rPr sz="1600" dirty="0">
                <a:solidFill>
                  <a:srgbClr val="000000"/>
                </a:solidFill>
                <a:latin typeface="Arial"/>
              </a:rPr>
              <a:t> de navigation Student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vers</a:t>
            </a:r>
            <a:r>
              <a:rPr sz="1600" dirty="0">
                <a:solidFill>
                  <a:srgbClr val="000000"/>
                </a:solidFill>
                <a:latin typeface="Arial"/>
              </a:rPr>
              <a:t> Address. Une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seule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clé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étrangère</a:t>
            </a:r>
            <a:r>
              <a:rPr sz="1600" dirty="0">
                <a:solidFill>
                  <a:srgbClr val="000000"/>
                </a:solidFill>
                <a:latin typeface="Arial"/>
              </a:rPr>
              <a:t> dans Student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suffit</a:t>
            </a:r>
            <a:r>
              <a:rPr sz="1600" dirty="0">
                <a:solidFill>
                  <a:srgbClr val="000000"/>
                </a:solidFill>
                <a:latin typeface="Arial"/>
              </a:rPr>
              <a:t> pour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représenter</a:t>
            </a:r>
            <a:r>
              <a:rPr sz="1600" dirty="0">
                <a:solidFill>
                  <a:srgbClr val="000000"/>
                </a:solidFill>
                <a:latin typeface="Arial"/>
              </a:rPr>
              <a:t> la relation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OneToOne</a:t>
            </a:r>
            <a:r>
              <a:rPr sz="1600" dirty="0">
                <a:solidFill>
                  <a:srgbClr val="000000"/>
                </a:solidFill>
                <a:latin typeface="Arial"/>
              </a:rPr>
              <a:t>. Ce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choix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évite</a:t>
            </a:r>
            <a:r>
              <a:rPr sz="1600" dirty="0">
                <a:solidFill>
                  <a:srgbClr val="000000"/>
                </a:solidFill>
                <a:latin typeface="Arial"/>
              </a:rPr>
              <a:t> la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redondance</a:t>
            </a:r>
            <a:r>
              <a:rPr sz="1600" dirty="0">
                <a:solidFill>
                  <a:srgbClr val="000000"/>
                </a:solidFill>
                <a:latin typeface="Arial"/>
              </a:rPr>
              <a:t> et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simplifie</a:t>
            </a:r>
            <a:r>
              <a:rPr sz="1600" dirty="0">
                <a:solidFill>
                  <a:srgbClr val="000000"/>
                </a:solidFill>
                <a:latin typeface="Arial"/>
              </a:rPr>
              <a:t> la structure de la base.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000000"/>
                </a:solidFill>
                <a:latin typeface="Arial"/>
              </a:rPr>
              <a:t>.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CascadeType.ALL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garantit</a:t>
            </a:r>
            <a:r>
              <a:rPr sz="1600" dirty="0">
                <a:solidFill>
                  <a:srgbClr val="000000"/>
                </a:solidFill>
                <a:latin typeface="Arial"/>
              </a:rPr>
              <a:t> la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sauvegarde</a:t>
            </a:r>
            <a:r>
              <a:rPr sz="1600" dirty="0">
                <a:solidFill>
                  <a:srgbClr val="000000"/>
                </a:solidFill>
                <a:latin typeface="Arial"/>
              </a:rPr>
              <a:t> et suppression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automatique</a:t>
            </a:r>
            <a:r>
              <a:rPr sz="1600" dirty="0">
                <a:solidFill>
                  <a:srgbClr val="000000"/>
                </a:solidFill>
                <a:latin typeface="Arial"/>
              </a:rPr>
              <a:t> de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l'adresse</a:t>
            </a:r>
            <a:r>
              <a:rPr sz="160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1205" y="1051560"/>
            <a:ext cx="438912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lang="fr-F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ode </a:t>
            </a:r>
            <a:r>
              <a:rPr lang="fr-F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adéquats :</a:t>
            </a:r>
            <a:endParaRPr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00"/>
              </a:spcAft>
            </a:pPr>
            <a:endParaRPr sz="1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Student.java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@OneToOne(cascade = </a:t>
            </a:r>
            <a:r>
              <a:rPr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CascadeType.ALL</a:t>
            </a:r>
            <a:r>
              <a:rPr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Address </a:t>
            </a:r>
            <a:r>
              <a:rPr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</a:t>
            </a:r>
            <a:r>
              <a:rPr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>
              <a:spcAft>
                <a:spcPts val="100"/>
              </a:spcAft>
            </a:pPr>
            <a:endParaRPr sz="1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Address.java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@Entity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class Address {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@Id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@GeneratedValue(strategy = </a:t>
            </a:r>
            <a:r>
              <a:rPr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GenerationType.IDENTITY</a:t>
            </a:r>
            <a:r>
              <a:rPr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private Integer </a:t>
            </a:r>
            <a:r>
              <a:rPr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idAddress</a:t>
            </a:r>
            <a:r>
              <a:rPr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0000"/>
                </a:solidFill>
                <a:latin typeface="Arial"/>
              </a:rPr>
              <a:t>Question 6 — Instructor ↔ Course (</a:t>
            </a:r>
            <a:r>
              <a:rPr sz="2400" b="1" dirty="0" err="1">
                <a:solidFill>
                  <a:srgbClr val="FF0000"/>
                </a:solidFill>
                <a:latin typeface="Arial"/>
              </a:rPr>
              <a:t>ManyToMany</a:t>
            </a:r>
            <a:r>
              <a:rPr lang="fr-FR" sz="2400" b="1" dirty="0">
                <a:solidFill>
                  <a:srgbClr val="FF0000"/>
                </a:solidFill>
                <a:latin typeface="Arial"/>
              </a:rPr>
              <a:t> bidirectionnelle</a:t>
            </a:r>
            <a:r>
              <a:rPr sz="2400" b="1" dirty="0">
                <a:solidFill>
                  <a:srgbClr val="FF0000"/>
                </a:solidFill>
                <a:latin typeface="Arial"/>
              </a:rPr>
              <a:t>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4712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6035040" cy="3654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600" dirty="0">
                <a:solidFill>
                  <a:srgbClr val="FF0000"/>
                </a:solidFill>
                <a:latin typeface="Arial"/>
              </a:rPr>
              <a:t>Cas 1</a:t>
            </a:r>
            <a:endParaRPr lang="fr-FR" sz="1600" dirty="0">
              <a:solidFill>
                <a:srgbClr val="FF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lang="fr-FR" sz="1600" dirty="0">
                <a:solidFill>
                  <a:srgbClr val="000000"/>
                </a:solidFill>
                <a:latin typeface="Arial"/>
              </a:rPr>
              <a:t>:n’est pas retenu car il génère deux tables de jointure, ce qui crée une redondance inutile et complique le schéma de la base de données.</a:t>
            </a:r>
          </a:p>
          <a:p>
            <a:pPr>
              <a:spcAft>
                <a:spcPts val="100"/>
              </a:spcAft>
            </a:pPr>
            <a:endParaRPr sz="16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endParaRPr sz="16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FF0000"/>
                </a:solidFill>
                <a:latin typeface="Arial"/>
              </a:rPr>
              <a:t>Cas 2 — </a:t>
            </a:r>
            <a:r>
              <a:rPr sz="1600" dirty="0" err="1">
                <a:solidFill>
                  <a:srgbClr val="FF0000"/>
                </a:solidFill>
                <a:latin typeface="Arial"/>
              </a:rPr>
              <a:t>Choisi</a:t>
            </a:r>
            <a:r>
              <a:rPr sz="1600" dirty="0">
                <a:solidFill>
                  <a:srgbClr val="FF0000"/>
                </a:solidFill>
                <a:latin typeface="Arial"/>
              </a:rPr>
              <a:t> ✓</a:t>
            </a:r>
          </a:p>
          <a:p>
            <a:pPr>
              <a:spcAft>
                <a:spcPts val="100"/>
              </a:spcAft>
            </a:pPr>
            <a:endParaRPr sz="16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000000"/>
                </a:solidFill>
                <a:latin typeface="Arial"/>
              </a:rPr>
              <a:t>@ManyToMany(cascade=ALL)  →  Instructor</a:t>
            </a:r>
          </a:p>
          <a:p>
            <a:pPr>
              <a:spcAft>
                <a:spcPts val="100"/>
              </a:spcAft>
            </a:pPr>
            <a:r>
              <a:rPr sz="1600" dirty="0" err="1">
                <a:solidFill>
                  <a:srgbClr val="000000"/>
                </a:solidFill>
                <a:latin typeface="Arial"/>
              </a:rPr>
              <a:t>mappedBy</a:t>
            </a:r>
            <a:r>
              <a:rPr sz="1600" dirty="0">
                <a:solidFill>
                  <a:srgbClr val="000000"/>
                </a:solidFill>
                <a:latin typeface="Arial"/>
              </a:rPr>
              <a:t>="courses"          →  Course</a:t>
            </a:r>
          </a:p>
          <a:p>
            <a:pPr>
              <a:spcAft>
                <a:spcPts val="100"/>
              </a:spcAft>
            </a:pPr>
            <a:r>
              <a:rPr sz="1600" dirty="0" err="1">
                <a:solidFill>
                  <a:srgbClr val="000000"/>
                </a:solidFill>
                <a:latin typeface="Arial"/>
              </a:rPr>
              <a:t>est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choisi</a:t>
            </a:r>
            <a:r>
              <a:rPr sz="1600" dirty="0">
                <a:solidFill>
                  <a:srgbClr val="000000"/>
                </a:solidFill>
                <a:latin typeface="Arial"/>
              </a:rPr>
              <a:t> car il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génère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une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seule</a:t>
            </a:r>
            <a:r>
              <a:rPr sz="1600" dirty="0">
                <a:solidFill>
                  <a:srgbClr val="000000"/>
                </a:solidFill>
                <a:latin typeface="Arial"/>
              </a:rPr>
              <a:t> table de jointure, avec Instructor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comme</a:t>
            </a:r>
            <a:r>
              <a:rPr sz="1600" dirty="0">
                <a:solidFill>
                  <a:srgbClr val="000000"/>
                </a:solidFill>
                <a:latin typeface="Arial"/>
              </a:rPr>
              <a:t> propriétaire de la relation,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ce</a:t>
            </a:r>
            <a:r>
              <a:rPr sz="1600" dirty="0">
                <a:solidFill>
                  <a:srgbClr val="000000"/>
                </a:solidFill>
                <a:latin typeface="Arial"/>
              </a:rPr>
              <a:t> qui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est</a:t>
            </a:r>
            <a:r>
              <a:rPr sz="1600" dirty="0">
                <a:solidFill>
                  <a:srgbClr val="000000"/>
                </a:solidFill>
                <a:latin typeface="Arial"/>
              </a:rPr>
              <a:t> plus simple et plus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cohérent</a:t>
            </a:r>
            <a:r>
              <a:rPr sz="160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000000"/>
                </a:solidFill>
                <a:latin typeface="Arial"/>
              </a:rPr>
              <a:t>Code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correcte</a:t>
            </a:r>
            <a:r>
              <a:rPr sz="1600" dirty="0">
                <a:solidFill>
                  <a:srgbClr val="000000"/>
                </a:solidFill>
                <a:latin typeface="Arial"/>
              </a:rPr>
              <a:t>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5357" y="1097280"/>
            <a:ext cx="5074920" cy="2929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 </a:t>
            </a:r>
            <a:r>
              <a:rPr lang="fr-F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adéquats :</a:t>
            </a:r>
            <a:endParaRPr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00"/>
              </a:spcAft>
            </a:pPr>
            <a:endParaRPr sz="1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Instructor.java</a:t>
            </a:r>
          </a:p>
          <a:p>
            <a:pPr>
              <a:spcAft>
                <a:spcPts val="100"/>
              </a:spcAft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@ManyToMany(cascade =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CascadeType.ALL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>
              <a:spcAft>
                <a:spcPts val="100"/>
              </a:spcAft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fetch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FetchType.</a:t>
            </a:r>
            <a:r>
              <a:rPr kumimoji="0" lang="fr-FR" altLang="fr-FR" sz="1600" b="0" i="1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LAZY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spcAft>
                <a:spcPts val="100"/>
              </a:spcAft>
            </a:pPr>
            <a:endParaRPr sz="1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List&lt;Course&gt; courses;</a:t>
            </a:r>
          </a:p>
          <a:p>
            <a:pPr>
              <a:spcAft>
                <a:spcPts val="100"/>
              </a:spcAft>
            </a:pPr>
            <a:endParaRPr sz="1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Course.java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@ManyToMany(mappedBy = "courses")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List&lt;Instructor&gt; instructors;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0000"/>
                </a:solidFill>
                <a:latin typeface="Arial"/>
              </a:rPr>
              <a:t>SchoolService — 10 méthodes (Question 8)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4712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15888"/>
            <a:ext cx="5760720" cy="4644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lang="fr-FR" sz="1400">
                <a:solidFill>
                  <a:srgbClr val="000000"/>
                </a:solidFill>
                <a:latin typeface="Arial"/>
              </a:rPr>
              <a:t>8,A.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createSchool():Créer une School</a:t>
            </a:r>
          </a:p>
          <a:p>
            <a:pPr>
              <a:spcAft>
                <a:spcPts val="100"/>
              </a:spcAft>
            </a:pPr>
            <a:r>
              <a:rPr lang="fr-FR" sz="1400">
                <a:solidFill>
                  <a:srgbClr val="000000"/>
                </a:solidFill>
                <a:latin typeface="Arial"/>
              </a:rPr>
              <a:t>8,B.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getSchoolById(id):Retourner une School par ID</a:t>
            </a:r>
          </a:p>
          <a:p>
            <a:pPr>
              <a:spcAft>
                <a:spcPts val="100"/>
              </a:spcAft>
            </a:pPr>
            <a:r>
              <a:rPr lang="fr-FR" sz="1400">
                <a:solidFill>
                  <a:srgbClr val="000000"/>
                </a:solidFill>
                <a:latin typeface="Arial"/>
              </a:rPr>
              <a:t>8,C.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createStudent():Créer un Student avec Address et School</a:t>
            </a:r>
          </a:p>
          <a:p>
            <a:pPr>
              <a:spcAft>
                <a:spcPts val="100"/>
              </a:spcAft>
            </a:pPr>
            <a:r>
              <a:rPr lang="fr-FR" sz="1400">
                <a:solidFill>
                  <a:srgbClr val="000000"/>
                </a:solidFill>
                <a:latin typeface="Arial"/>
              </a:rPr>
              <a:t>8,D.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getAllStudents():Lister tous les Students</a:t>
            </a:r>
          </a:p>
          <a:p>
            <a:pPr>
              <a:spcAft>
                <a:spcPts val="100"/>
              </a:spcAft>
            </a:pPr>
            <a:r>
              <a:rPr lang="fr-FR" sz="1400">
                <a:solidFill>
                  <a:srgbClr val="000000"/>
                </a:solidFill>
                <a:latin typeface="Arial"/>
              </a:rPr>
              <a:t>8,E.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createInstructor():Créer un Instructor avec liste de cours</a:t>
            </a:r>
            <a:endParaRPr sz="14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lang="fr-FR" sz="1400">
                <a:solidFill>
                  <a:srgbClr val="000000"/>
                </a:solidFill>
                <a:latin typeface="Arial"/>
              </a:rPr>
              <a:t>8,F.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getInstructorByName(name):Lister les Instructors par nom</a:t>
            </a:r>
          </a:p>
          <a:p>
            <a:pPr>
              <a:spcAft>
                <a:spcPts val="100"/>
              </a:spcAft>
            </a:pPr>
            <a:r>
              <a:rPr lang="fr-FR" sz="1400">
                <a:solidFill>
                  <a:srgbClr val="000000"/>
                </a:solidFill>
                <a:latin typeface="Arial"/>
              </a:rPr>
              <a:t>8,G.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getInstructorById(id):Retourner un Instructor par ID</a:t>
            </a:r>
          </a:p>
          <a:p>
            <a:pPr>
              <a:spcAft>
                <a:spcPts val="100"/>
              </a:spcAft>
            </a:pPr>
            <a:r>
              <a:rPr lang="fr-FR" sz="1400">
                <a:solidFill>
                  <a:srgbClr val="000000"/>
                </a:solidFill>
                <a:latin typeface="Arial"/>
              </a:rPr>
              <a:t>8,H.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getCourseById(id):Retourner un Course par ID</a:t>
            </a:r>
          </a:p>
          <a:p>
            <a:pPr>
              <a:spcAft>
                <a:spcPts val="100"/>
              </a:spcAft>
            </a:pPr>
            <a:r>
              <a:rPr lang="fr-FR" sz="1400">
                <a:solidFill>
                  <a:srgbClr val="000000"/>
                </a:solidFill>
                <a:latin typeface="Arial"/>
              </a:rPr>
              <a:t>8,I.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getCoursesByInstructor(id):Lister les cours d'un Instructor</a:t>
            </a:r>
          </a:p>
          <a:p>
            <a:pPr>
              <a:spcAft>
                <a:spcPts val="100"/>
              </a:spcAft>
            </a:pPr>
            <a:r>
              <a:rPr lang="fr-FR" sz="1400">
                <a:solidFill>
                  <a:srgbClr val="000000"/>
                </a:solidFill>
                <a:latin typeface="Arial"/>
              </a:rPr>
              <a:t>8,J.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addCourseToInstructor(iId,cId):Ajouter un Course à un Instructor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6520" y="1005840"/>
            <a:ext cx="5303520" cy="4188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 extrait</a:t>
            </a:r>
          </a:p>
          <a:p>
            <a:pPr>
              <a:spcAft>
                <a:spcPts val="100"/>
              </a:spcAft>
            </a:pPr>
            <a:endParaRPr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@Service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class </a:t>
            </a:r>
            <a:r>
              <a:rPr sz="1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SchoolService</a:t>
            </a:r>
            <a:r>
              <a:rPr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pPr>
              <a:spcAft>
                <a:spcPts val="100"/>
              </a:spcAft>
            </a:pPr>
            <a:endParaRPr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@Autowired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</a:t>
            </a:r>
            <a:r>
              <a:rPr sz="1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SchoolRepository</a:t>
            </a:r>
            <a:r>
              <a:rPr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schoolRepository</a:t>
            </a:r>
            <a:r>
              <a:rPr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>
              <a:spcAft>
                <a:spcPts val="100"/>
              </a:spcAft>
            </a:pPr>
            <a:endParaRPr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@Autowired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</a:t>
            </a:r>
            <a:r>
              <a:rPr sz="1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StudentRepository</a:t>
            </a:r>
            <a:r>
              <a:rPr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studentRepository</a:t>
            </a:r>
            <a:r>
              <a:rPr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>
              <a:spcAft>
                <a:spcPts val="100"/>
              </a:spcAft>
            </a:pPr>
            <a:endParaRPr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@Autowired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</a:t>
            </a:r>
            <a:r>
              <a:rPr sz="1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InstructorRepository</a:t>
            </a:r>
            <a:r>
              <a:rPr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instructorRepository</a:t>
            </a:r>
            <a:r>
              <a:rPr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>
              <a:spcAft>
                <a:spcPts val="100"/>
              </a:spcAft>
            </a:pPr>
            <a:endParaRPr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@Autowired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</a:t>
            </a:r>
            <a:r>
              <a:rPr sz="1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CourseRepository</a:t>
            </a:r>
            <a:r>
              <a:rPr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courseRepository</a:t>
            </a:r>
            <a:r>
              <a:rPr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>
              <a:spcAft>
                <a:spcPts val="100"/>
              </a:spcAft>
            </a:pPr>
            <a:endParaRPr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0000"/>
                </a:solidFill>
                <a:latin typeface="Arial"/>
              </a:rPr>
              <a:t>API REST — </a:t>
            </a:r>
            <a:r>
              <a:rPr sz="2400" b="1" dirty="0" err="1">
                <a:solidFill>
                  <a:srgbClr val="FF0000"/>
                </a:solidFill>
                <a:latin typeface="Arial"/>
              </a:rPr>
              <a:t>TestSchoolController</a:t>
            </a:r>
            <a:r>
              <a:rPr sz="2400" b="1" dirty="0">
                <a:solidFill>
                  <a:srgbClr val="FF0000"/>
                </a:solidFill>
                <a:latin typeface="Arial"/>
              </a:rPr>
              <a:t> (Question 9)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4712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852160" cy="57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 dirty="0">
                <a:solidFill>
                  <a:srgbClr val="002060"/>
                </a:solidFill>
                <a:latin typeface="Arial"/>
              </a:rPr>
              <a:t>POST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000000"/>
                </a:solidFill>
                <a:latin typeface="Arial"/>
              </a:rPr>
              <a:t>/school/</a:t>
            </a:r>
            <a:r>
              <a:rPr sz="1100" dirty="0" err="1">
                <a:solidFill>
                  <a:srgbClr val="000000"/>
                </a:solidFill>
                <a:latin typeface="Arial"/>
              </a:rPr>
              <a:t>createSchool</a:t>
            </a:r>
            <a:endParaRPr sz="11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lang="fr-FR" sz="1100" dirty="0">
                <a:solidFill>
                  <a:srgbClr val="000000"/>
                </a:solidFill>
                <a:latin typeface="Arial"/>
              </a:rPr>
              <a:t>=&gt; </a:t>
            </a:r>
            <a:r>
              <a:rPr sz="1100" dirty="0" err="1">
                <a:solidFill>
                  <a:srgbClr val="000000"/>
                </a:solidFill>
                <a:latin typeface="Arial"/>
              </a:rPr>
              <a:t>Créer</a:t>
            </a:r>
            <a:r>
              <a:rPr sz="1100" dirty="0">
                <a:solidFill>
                  <a:srgbClr val="000000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000000"/>
                </a:solidFill>
                <a:latin typeface="Arial"/>
              </a:rPr>
              <a:t>une</a:t>
            </a:r>
            <a:r>
              <a:rPr sz="1100" dirty="0">
                <a:solidFill>
                  <a:srgbClr val="000000"/>
                </a:solidFill>
                <a:latin typeface="Arial"/>
              </a:rPr>
              <a:t> School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002060"/>
                </a:solidFill>
                <a:latin typeface="Arial"/>
              </a:rPr>
              <a:t>GET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000000"/>
                </a:solidFill>
                <a:latin typeface="Arial"/>
              </a:rPr>
              <a:t>/school/</a:t>
            </a:r>
            <a:r>
              <a:rPr sz="1100" dirty="0" err="1">
                <a:solidFill>
                  <a:srgbClr val="000000"/>
                </a:solidFill>
                <a:latin typeface="Arial"/>
              </a:rPr>
              <a:t>getSchool</a:t>
            </a:r>
            <a:r>
              <a:rPr sz="1100" dirty="0">
                <a:solidFill>
                  <a:srgbClr val="000000"/>
                </a:solidFill>
                <a:latin typeface="Arial"/>
              </a:rPr>
              <a:t>/{id}</a:t>
            </a:r>
          </a:p>
          <a:p>
            <a:pPr>
              <a:spcAft>
                <a:spcPts val="100"/>
              </a:spcAft>
            </a:pPr>
            <a:r>
              <a:rPr lang="fr-FR" sz="1100" dirty="0">
                <a:solidFill>
                  <a:srgbClr val="000000"/>
                </a:solidFill>
                <a:latin typeface="Arial"/>
              </a:rPr>
              <a:t>=&gt;</a:t>
            </a:r>
            <a:r>
              <a:rPr sz="1100" dirty="0" err="1">
                <a:solidFill>
                  <a:srgbClr val="000000"/>
                </a:solidFill>
                <a:latin typeface="Arial"/>
              </a:rPr>
              <a:t>Récupérer</a:t>
            </a:r>
            <a:r>
              <a:rPr sz="1100" dirty="0">
                <a:solidFill>
                  <a:srgbClr val="000000"/>
                </a:solidFill>
                <a:latin typeface="Arial"/>
              </a:rPr>
              <a:t> School par ID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000000"/>
                </a:solidFill>
                <a:latin typeface="Arial"/>
              </a:rPr>
              <a:t>POST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000000"/>
                </a:solidFill>
                <a:latin typeface="Arial"/>
              </a:rPr>
              <a:t>/school/</a:t>
            </a:r>
            <a:r>
              <a:rPr sz="1100" dirty="0" err="1">
                <a:solidFill>
                  <a:srgbClr val="000000"/>
                </a:solidFill>
                <a:latin typeface="Arial"/>
              </a:rPr>
              <a:t>createStudent</a:t>
            </a:r>
            <a:endParaRPr sz="11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100" dirty="0" err="1">
                <a:solidFill>
                  <a:srgbClr val="000000"/>
                </a:solidFill>
                <a:latin typeface="Arial"/>
              </a:rPr>
              <a:t>Créer</a:t>
            </a:r>
            <a:r>
              <a:rPr sz="1100" dirty="0">
                <a:solidFill>
                  <a:srgbClr val="000000"/>
                </a:solidFill>
                <a:latin typeface="Arial"/>
              </a:rPr>
              <a:t> un Student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000000"/>
                </a:solidFill>
                <a:latin typeface="Arial"/>
              </a:rPr>
              <a:t>GET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000000"/>
                </a:solidFill>
                <a:latin typeface="Arial"/>
              </a:rPr>
              <a:t>/school/students</a:t>
            </a:r>
          </a:p>
          <a:p>
            <a:pPr>
              <a:spcAft>
                <a:spcPts val="100"/>
              </a:spcAft>
            </a:pPr>
            <a:r>
              <a:rPr lang="fr-FR" sz="1100" dirty="0">
                <a:solidFill>
                  <a:srgbClr val="000000"/>
                </a:solidFill>
                <a:latin typeface="Arial"/>
              </a:rPr>
              <a:t>=&gt;</a:t>
            </a:r>
            <a:r>
              <a:rPr sz="1100" dirty="0">
                <a:solidFill>
                  <a:srgbClr val="000000"/>
                </a:solidFill>
                <a:latin typeface="Arial"/>
              </a:rPr>
              <a:t>Lister </a:t>
            </a:r>
            <a:r>
              <a:rPr sz="1100" dirty="0" err="1">
                <a:solidFill>
                  <a:srgbClr val="000000"/>
                </a:solidFill>
                <a:latin typeface="Arial"/>
              </a:rPr>
              <a:t>tous</a:t>
            </a:r>
            <a:r>
              <a:rPr sz="1100" dirty="0">
                <a:solidFill>
                  <a:srgbClr val="000000"/>
                </a:solidFill>
                <a:latin typeface="Arial"/>
              </a:rPr>
              <a:t> les Students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002060"/>
                </a:solidFill>
                <a:latin typeface="Arial"/>
              </a:rPr>
              <a:t>POST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000000"/>
                </a:solidFill>
                <a:latin typeface="Arial"/>
              </a:rPr>
              <a:t>/school/</a:t>
            </a:r>
            <a:r>
              <a:rPr sz="1100" dirty="0" err="1">
                <a:solidFill>
                  <a:srgbClr val="000000"/>
                </a:solidFill>
                <a:latin typeface="Arial"/>
              </a:rPr>
              <a:t>createInstructor</a:t>
            </a:r>
            <a:endParaRPr sz="11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lang="fr-FR" sz="1100" dirty="0">
                <a:solidFill>
                  <a:srgbClr val="000000"/>
                </a:solidFill>
                <a:latin typeface="Arial"/>
              </a:rPr>
              <a:t>=&gt; </a:t>
            </a:r>
            <a:r>
              <a:rPr sz="1100" dirty="0" err="1">
                <a:solidFill>
                  <a:srgbClr val="000000"/>
                </a:solidFill>
                <a:latin typeface="Arial"/>
              </a:rPr>
              <a:t>Créer</a:t>
            </a:r>
            <a:r>
              <a:rPr sz="1100" dirty="0">
                <a:solidFill>
                  <a:srgbClr val="000000"/>
                </a:solidFill>
                <a:latin typeface="Arial"/>
              </a:rPr>
              <a:t> un Instructor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002060"/>
                </a:solidFill>
                <a:latin typeface="Arial"/>
              </a:rPr>
              <a:t>GET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000000"/>
                </a:solidFill>
                <a:latin typeface="Arial"/>
              </a:rPr>
              <a:t>/school/</a:t>
            </a:r>
            <a:r>
              <a:rPr sz="1100" dirty="0" err="1">
                <a:solidFill>
                  <a:srgbClr val="000000"/>
                </a:solidFill>
                <a:latin typeface="Arial"/>
              </a:rPr>
              <a:t>instructorByName?name</a:t>
            </a:r>
            <a:r>
              <a:rPr sz="1100" dirty="0">
                <a:solidFill>
                  <a:srgbClr val="000000"/>
                </a:solidFill>
                <a:latin typeface="Arial"/>
              </a:rPr>
              <a:t>=X</a:t>
            </a:r>
          </a:p>
          <a:p>
            <a:pPr>
              <a:spcAft>
                <a:spcPts val="100"/>
              </a:spcAft>
            </a:pPr>
            <a:r>
              <a:rPr lang="fr-FR" sz="1100" dirty="0">
                <a:solidFill>
                  <a:srgbClr val="000000"/>
                </a:solidFill>
                <a:latin typeface="Arial"/>
              </a:rPr>
              <a:t>=&gt;</a:t>
            </a:r>
            <a:r>
              <a:rPr sz="1100" dirty="0" err="1">
                <a:solidFill>
                  <a:srgbClr val="000000"/>
                </a:solidFill>
                <a:latin typeface="Arial"/>
              </a:rPr>
              <a:t>Chercher</a:t>
            </a:r>
            <a:r>
              <a:rPr sz="1100" dirty="0">
                <a:solidFill>
                  <a:srgbClr val="000000"/>
                </a:solidFill>
                <a:latin typeface="Arial"/>
              </a:rPr>
              <a:t> Instructor par nom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002060"/>
                </a:solidFill>
                <a:latin typeface="Arial"/>
              </a:rPr>
              <a:t>GET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000000"/>
                </a:solidFill>
                <a:latin typeface="Arial"/>
              </a:rPr>
              <a:t>/school/</a:t>
            </a:r>
            <a:r>
              <a:rPr sz="1100" dirty="0" err="1">
                <a:solidFill>
                  <a:srgbClr val="000000"/>
                </a:solidFill>
                <a:latin typeface="Arial"/>
              </a:rPr>
              <a:t>getInstructor</a:t>
            </a:r>
            <a:r>
              <a:rPr sz="1100" dirty="0">
                <a:solidFill>
                  <a:srgbClr val="000000"/>
                </a:solidFill>
                <a:latin typeface="Arial"/>
              </a:rPr>
              <a:t>/{id}</a:t>
            </a:r>
          </a:p>
          <a:p>
            <a:pPr>
              <a:spcAft>
                <a:spcPts val="100"/>
              </a:spcAft>
            </a:pPr>
            <a:r>
              <a:rPr lang="fr-FR" sz="1100" dirty="0">
                <a:solidFill>
                  <a:srgbClr val="000000"/>
                </a:solidFill>
                <a:latin typeface="Arial"/>
              </a:rPr>
              <a:t>=&gt;</a:t>
            </a:r>
            <a:r>
              <a:rPr sz="1100" dirty="0" err="1">
                <a:solidFill>
                  <a:srgbClr val="000000"/>
                </a:solidFill>
                <a:latin typeface="Arial"/>
              </a:rPr>
              <a:t>Récupérer</a:t>
            </a:r>
            <a:r>
              <a:rPr sz="1100" dirty="0">
                <a:solidFill>
                  <a:srgbClr val="000000"/>
                </a:solidFill>
                <a:latin typeface="Arial"/>
              </a:rPr>
              <a:t> Instructor par ID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002060"/>
                </a:solidFill>
                <a:latin typeface="Arial"/>
              </a:rPr>
              <a:t>GET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000000"/>
                </a:solidFill>
                <a:latin typeface="Arial"/>
              </a:rPr>
              <a:t>/school/</a:t>
            </a:r>
            <a:r>
              <a:rPr sz="1100" dirty="0" err="1">
                <a:solidFill>
                  <a:srgbClr val="000000"/>
                </a:solidFill>
                <a:latin typeface="Arial"/>
              </a:rPr>
              <a:t>getCourse</a:t>
            </a:r>
            <a:r>
              <a:rPr sz="1100" dirty="0">
                <a:solidFill>
                  <a:srgbClr val="000000"/>
                </a:solidFill>
                <a:latin typeface="Arial"/>
              </a:rPr>
              <a:t>/{id}</a:t>
            </a:r>
          </a:p>
          <a:p>
            <a:pPr>
              <a:spcAft>
                <a:spcPts val="100"/>
              </a:spcAft>
            </a:pPr>
            <a:r>
              <a:rPr lang="fr-FR" sz="1100" dirty="0">
                <a:solidFill>
                  <a:srgbClr val="000000"/>
                </a:solidFill>
                <a:latin typeface="Arial"/>
              </a:rPr>
              <a:t>=&gt;</a:t>
            </a:r>
            <a:r>
              <a:rPr sz="1100" dirty="0" err="1">
                <a:solidFill>
                  <a:srgbClr val="000000"/>
                </a:solidFill>
                <a:latin typeface="Arial"/>
              </a:rPr>
              <a:t>Récupérer</a:t>
            </a:r>
            <a:r>
              <a:rPr sz="1100" dirty="0">
                <a:solidFill>
                  <a:srgbClr val="000000"/>
                </a:solidFill>
                <a:latin typeface="Arial"/>
              </a:rPr>
              <a:t> Course par ID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002060"/>
                </a:solidFill>
                <a:latin typeface="Arial"/>
              </a:rPr>
              <a:t>GET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000000"/>
                </a:solidFill>
                <a:latin typeface="Arial"/>
              </a:rPr>
              <a:t>/school/</a:t>
            </a:r>
            <a:r>
              <a:rPr sz="1100" dirty="0" err="1">
                <a:solidFill>
                  <a:srgbClr val="000000"/>
                </a:solidFill>
                <a:latin typeface="Arial"/>
              </a:rPr>
              <a:t>getInstructor</a:t>
            </a:r>
            <a:r>
              <a:rPr sz="1100" dirty="0">
                <a:solidFill>
                  <a:srgbClr val="000000"/>
                </a:solidFill>
                <a:latin typeface="Arial"/>
              </a:rPr>
              <a:t>/{id}/courses</a:t>
            </a:r>
          </a:p>
          <a:p>
            <a:pPr>
              <a:spcAft>
                <a:spcPts val="100"/>
              </a:spcAft>
            </a:pPr>
            <a:r>
              <a:rPr lang="fr-FR" sz="1100" dirty="0">
                <a:solidFill>
                  <a:srgbClr val="000000"/>
                </a:solidFill>
                <a:latin typeface="Arial"/>
              </a:rPr>
              <a:t>=&gt; </a:t>
            </a:r>
            <a:r>
              <a:rPr sz="1100" dirty="0">
                <a:solidFill>
                  <a:srgbClr val="000000"/>
                </a:solidFill>
                <a:latin typeface="Arial"/>
              </a:rPr>
              <a:t>Lister </a:t>
            </a:r>
            <a:r>
              <a:rPr sz="1100" dirty="0" err="1">
                <a:solidFill>
                  <a:srgbClr val="000000"/>
                </a:solidFill>
                <a:latin typeface="Arial"/>
              </a:rPr>
              <a:t>cours</a:t>
            </a:r>
            <a:r>
              <a:rPr sz="1100" dirty="0">
                <a:solidFill>
                  <a:srgbClr val="000000"/>
                </a:solidFill>
                <a:latin typeface="Arial"/>
              </a:rPr>
              <a:t> d'un Instructor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002060"/>
                </a:solidFill>
                <a:latin typeface="Arial"/>
              </a:rPr>
              <a:t>POST</a:t>
            </a:r>
          </a:p>
          <a:p>
            <a:pPr>
              <a:spcAft>
                <a:spcPts val="100"/>
              </a:spcAft>
            </a:pPr>
            <a:r>
              <a:rPr sz="1100" dirty="0">
                <a:solidFill>
                  <a:srgbClr val="000000"/>
                </a:solidFill>
                <a:latin typeface="Arial"/>
              </a:rPr>
              <a:t>/</a:t>
            </a:r>
            <a:r>
              <a:rPr sz="1100" dirty="0">
                <a:latin typeface="Arial"/>
              </a:rPr>
              <a:t>school</a:t>
            </a:r>
            <a:r>
              <a:rPr sz="1100" dirty="0">
                <a:solidFill>
                  <a:srgbClr val="000000"/>
                </a:solidFill>
                <a:latin typeface="Arial"/>
              </a:rPr>
              <a:t>/instructor/{id}/</a:t>
            </a:r>
            <a:r>
              <a:rPr sz="1100" dirty="0" err="1">
                <a:solidFill>
                  <a:srgbClr val="000000"/>
                </a:solidFill>
                <a:latin typeface="Arial"/>
              </a:rPr>
              <a:t>addCourse</a:t>
            </a:r>
            <a:r>
              <a:rPr sz="1100" dirty="0">
                <a:solidFill>
                  <a:srgbClr val="000000"/>
                </a:solidFill>
                <a:latin typeface="Arial"/>
              </a:rPr>
              <a:t>/{</a:t>
            </a:r>
            <a:r>
              <a:rPr sz="1100" dirty="0" err="1">
                <a:solidFill>
                  <a:srgbClr val="000000"/>
                </a:solidFill>
                <a:latin typeface="Arial"/>
              </a:rPr>
              <a:t>cId</a:t>
            </a:r>
            <a:r>
              <a:rPr sz="1100" dirty="0">
                <a:solidFill>
                  <a:srgbClr val="000000"/>
                </a:solidFill>
                <a:latin typeface="Arial"/>
              </a:rPr>
              <a:t>}</a:t>
            </a:r>
          </a:p>
          <a:p>
            <a:pPr>
              <a:spcAft>
                <a:spcPts val="100"/>
              </a:spcAft>
            </a:pPr>
            <a:r>
              <a:rPr lang="fr-FR" sz="1100" dirty="0">
                <a:solidFill>
                  <a:srgbClr val="000000"/>
                </a:solidFill>
                <a:latin typeface="Arial"/>
              </a:rPr>
              <a:t>=&gt; </a:t>
            </a:r>
            <a:r>
              <a:rPr sz="1100" dirty="0" err="1">
                <a:solidFill>
                  <a:srgbClr val="000000"/>
                </a:solidFill>
                <a:latin typeface="Arial"/>
              </a:rPr>
              <a:t>Ajouter</a:t>
            </a:r>
            <a:r>
              <a:rPr sz="1100" dirty="0">
                <a:solidFill>
                  <a:srgbClr val="000000"/>
                </a:solidFill>
                <a:latin typeface="Arial"/>
              </a:rPr>
              <a:t> un </a:t>
            </a:r>
            <a:r>
              <a:rPr sz="1100" dirty="0" err="1">
                <a:solidFill>
                  <a:srgbClr val="000000"/>
                </a:solidFill>
                <a:latin typeface="Arial"/>
              </a:rPr>
              <a:t>cours</a:t>
            </a:r>
            <a:r>
              <a:rPr sz="1100" dirty="0">
                <a:solidFill>
                  <a:srgbClr val="000000"/>
                </a:solidFill>
                <a:latin typeface="Arial"/>
              </a:rPr>
              <a:t> à Instructor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6520" y="1005840"/>
            <a:ext cx="5303520" cy="5429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Code </a:t>
            </a: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adéquats :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00"/>
              </a:spcAft>
            </a:pP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00"/>
              </a:spcAft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@RestController</a:t>
            </a:r>
          </a:p>
          <a:p>
            <a:pPr>
              <a:spcAft>
                <a:spcPts val="100"/>
              </a:spcAft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@RequestMapping("/school")</a:t>
            </a:r>
          </a:p>
          <a:p>
            <a:pPr>
              <a:spcAft>
                <a:spcPts val="100"/>
              </a:spcAft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public class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TestSchoolController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pPr>
              <a:spcAft>
                <a:spcPts val="100"/>
              </a:spcAft>
            </a:pP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00"/>
              </a:spcAft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@Autowired</a:t>
            </a:r>
          </a:p>
          <a:p>
            <a:pPr>
              <a:spcAft>
                <a:spcPts val="100"/>
              </a:spcAft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private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SchoolService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schoolService</a:t>
            </a: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00"/>
              </a:spcAft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@PostMapping("/createSchool")</a:t>
            </a: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00"/>
              </a:spcAft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@GetMapping("/getSchool/{id}")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00"/>
              </a:spcAft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@PostMapping("/createStudent")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@GetMapping("/students")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@PostMapping("/createInstructor")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@GetMapping("/instructorByName")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@GetMapping("/getInstructor/{id}")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@GetMapping("/getCourse/{id}")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@GetMapping("/getInstructor/{id}/courses")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>
              <a:spcAft>
                <a:spcPts val="100"/>
              </a:spcAft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@PostMapping("/instructor/{id}/addCourse/{courseId}")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</a:br>
            <a:endParaRPr kumimoji="0" lang="fr-FR" altLang="fr-FR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>
              <a:spcAft>
                <a:spcPts val="100"/>
              </a:spcAft>
            </a:pP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00"/>
              </a:spcAft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1098</Words>
  <Application>Microsoft Office PowerPoint</Application>
  <PresentationFormat>Grand écran</PresentationFormat>
  <Paragraphs>211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JetBrains Mono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user</dc:creator>
  <cp:keywords/>
  <dc:description>generated using python-pptx</dc:description>
  <cp:lastModifiedBy>hanin</cp:lastModifiedBy>
  <cp:revision>6</cp:revision>
  <dcterms:created xsi:type="dcterms:W3CDTF">2013-01-27T09:14:16Z</dcterms:created>
  <dcterms:modified xsi:type="dcterms:W3CDTF">2026-05-03T15:14:36Z</dcterms:modified>
  <cp:category/>
</cp:coreProperties>
</file>